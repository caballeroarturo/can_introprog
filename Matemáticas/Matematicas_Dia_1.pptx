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85" autoAdjust="0"/>
    <p:restoredTop sz="96652" autoAdjust="0"/>
  </p:normalViewPr>
  <p:slideViewPr>
    <p:cSldViewPr snapToGrid="0">
      <p:cViewPr varScale="1">
        <p:scale>
          <a:sx n="118" d="100"/>
          <a:sy n="118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F9E22-E54D-8A9F-C8CB-D3B3D05F7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715D7-AB08-6300-0434-4CC96ABCC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159EC-48CC-4C63-0EF5-0A4DE8F9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C4B4A5-90E5-C870-C8F1-D5E429D5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8EFDA-D55C-1DAB-916D-B98ED26D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44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E2394-BF07-CC05-2014-E9247A36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3E642A-D200-5CC1-1AD7-13CF7B158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FD05F-A4AA-8528-9E01-8540D9AF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168ECE-4857-BC18-64CE-CA0D3370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CA003A-CA1A-C0EC-11D7-4CF36B45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4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2F82B-B6C3-8212-51FE-6B041B2C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8217C9-9249-FB3E-F4D6-BD4C9D5B8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DB32DE-6DC5-683C-7A64-F07B3B2B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03C0C9-0437-1A8F-73A8-D13CA66F0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23FAF5-8DC4-5B1A-B3C3-B033783D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911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23078-7A92-38F7-5C2B-B4D8A2BC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BEFB90-F597-C2A0-2B93-96EBA3913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BCDDC4-A1CC-8F0C-B10F-F530A6A31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7779DE-B06F-B3E5-C33D-94E4ACE6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E47A11-AA60-CE9D-9706-2F429A75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DDC20F-A136-6B38-9F0B-57C7D1E1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517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B9C11-DC62-3316-FC42-D6FCDADDF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8A4B1A-EA3D-7C41-E37C-9125E086B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C07415-8A08-8AA2-2602-917DDCC57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4D9866-5F1D-23E3-7E25-8DFEBB9AF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FB58FC8-F2C9-07DE-F8BA-C1A236DBD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59102B-094D-102F-5417-84A38B39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57A2FD2-9788-3483-DA91-6DD3AC96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1E04CD-21C2-DDDB-52BA-F3F126D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4536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CE1ED-2F11-979A-3B51-2D71D9B5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0206E1-FA7A-8714-7D16-F1793212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43BB5B-E32F-26D7-C655-A1F9D160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0BCCB6-2904-C046-0A5C-54342778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624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4174A3-CB9D-59E9-32F0-ACE08AA7F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5AC4CC-0002-23BE-98E2-F0A09FC9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7B04F6-2A18-DE27-7426-5C6E8F98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770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CB0F5-E5E5-2E7B-ABBC-EEE84658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F26E75-BAB9-609B-AF52-CEBB5923C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527239-1DC8-B8CB-10E4-3FB6C085B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C2DFF1-FB7A-2290-6175-EFB8C538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804F15-8373-6743-55DF-62A0F3B5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78326C-9DCC-DEB7-AD7F-A0FD19DD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177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5F814-9EC0-52A2-97EC-69FD0718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E64664-D487-3440-C871-46EA83BEB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105D13-4362-2161-FCDF-5E470F038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97B11A-4777-068A-0742-F372A9C8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F56489-83A9-DC5D-ADB3-22919785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683B5E-E81E-B961-094C-AB75F5C7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084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C6B79-9616-1633-20B8-0B099F3F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3BE66C-6D05-D315-2FF7-DCEDB526D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3427F-34D1-140F-E290-316E0C5B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490D3E-CC49-D17A-E0B7-5FF6A02A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71C25D-6F24-4F2E-F1B6-884432AD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385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25A83E-0EB5-0ECD-4A68-6C897277C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9178D5-98B7-4D12-C2E6-8EDBCD7D3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FE6FE-4D07-B1AC-6A8F-111A1C16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A7D353-8845-1A95-4E72-10A76E70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A92EB3-3086-8007-75F1-12E4A0B7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892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128EB1-C1B3-E875-5D2C-F809FA7E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7E1CD3-D15E-332C-D94C-12650BFEB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DE24AC-8021-0295-3D3B-C94F31383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74C47-E820-4E78-8C20-7BA8CFC61F08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587208-A7A2-1C97-1FCD-12511A894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FA42F-AFBD-B0F6-878E-54A5AC615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70D75-CAF1-4B18-BFD7-24DDFD7ED6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362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caballeroarturo/CAN_Matematicas" TargetMode="External"/><Relationship Id="rId4" Type="http://schemas.openxmlformats.org/officeDocument/2006/relationships/hyperlink" Target="https://github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BE725C-BFEC-6A76-BDA2-81ABA511A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1" b="9216"/>
          <a:stretch>
            <a:fillRect/>
          </a:stretch>
        </p:blipFill>
        <p:spPr>
          <a:xfrm>
            <a:off x="538861" y="975126"/>
            <a:ext cx="5557139" cy="450043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EBD7641-3F40-B7B3-2CF0-9B40AFC7F05F}"/>
              </a:ext>
            </a:extLst>
          </p:cNvPr>
          <p:cNvSpPr/>
          <p:nvPr/>
        </p:nvSpPr>
        <p:spPr>
          <a:xfrm>
            <a:off x="7395587" y="2302015"/>
            <a:ext cx="383111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Matemáticas</a:t>
            </a:r>
          </a:p>
          <a:p>
            <a:pPr algn="ctr"/>
            <a:r>
              <a:rPr lang="es-E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Día 1</a:t>
            </a:r>
          </a:p>
        </p:txBody>
      </p:sp>
    </p:spTree>
    <p:extLst>
      <p:ext uri="{BB962C8B-B14F-4D97-AF65-F5344CB8AC3E}">
        <p14:creationId xmlns:p14="http://schemas.microsoft.com/office/powerpoint/2010/main" val="110453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93D9E98-3436-FCFF-4470-54141442B6D2}"/>
              </a:ext>
            </a:extLst>
          </p:cNvPr>
          <p:cNvSpPr txBox="1"/>
          <p:nvPr/>
        </p:nvSpPr>
        <p:spPr>
          <a:xfrm>
            <a:off x="898216" y="671639"/>
            <a:ext cx="506561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400" b="0" i="0" u="none" strike="noStrike" baseline="0" dirty="0"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es-MX" sz="1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LOS NÚMEROS REALES Y POLINOMIOS </a:t>
            </a:r>
          </a:p>
          <a:p>
            <a:pPr marL="228600" indent="-228600">
              <a:buAutoNum type="arabicPeriod"/>
            </a:pPr>
            <a:endParaRPr lang="es-MX" sz="1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1.1. Propiedades de los números reales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1.1.1. Los números reales positivos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1.1.2. Los números reales negativos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1.2. Desigualdades y valor absoluto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1.3. Exponentes enteros positivos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1.4. Exponentes enteros y notación científica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1.5. Polinomios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1.5.1. Multiplicación y división de polinomios </a:t>
            </a:r>
          </a:p>
          <a:p>
            <a:endParaRPr lang="es-MX" sz="1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MX" sz="1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 ECUACIONES LINEALES EN UNA VARIABLE </a:t>
            </a:r>
          </a:p>
          <a:p>
            <a:endParaRPr lang="es-MX" sz="12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2.1. Ecuaciones lineales simples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2.2. Desigualdades lineales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2.3. Desigualdades con valor absoluto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2.4. Rectas y sistemas lineales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2.4.1. Resolución de sistemas lineales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2.4.1.1. Método gráfico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2.4.1.2. Método de sustitución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2.4.1.3. Método de igualación </a:t>
            </a:r>
          </a:p>
          <a:p>
            <a:r>
              <a:rPr lang="pt-BR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2.4.1.4. Método de suma o resta </a:t>
            </a:r>
            <a:endParaRPr lang="es-MX" sz="1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2.4.2. Ecuaciones de rectas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2.4.3. Sistemas lineales </a:t>
            </a: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2.5. Gráficas de rectas </a:t>
            </a:r>
          </a:p>
          <a:p>
            <a:endParaRPr lang="es-MX" sz="12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MX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B5A076-1E02-CEFF-55CC-79E6C42B6B39}"/>
              </a:ext>
            </a:extLst>
          </p:cNvPr>
          <p:cNvSpPr txBox="1"/>
          <p:nvPr/>
        </p:nvSpPr>
        <p:spPr>
          <a:xfrm>
            <a:off x="5729161" y="671639"/>
            <a:ext cx="595573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1400" b="0" i="0" u="none" strike="noStrike" baseline="0">
                <a:latin typeface="Arial" panose="020B0604020202020204" pitchFamily="34" charset="0"/>
              </a:defRPr>
            </a:lvl1pPr>
          </a:lstStyle>
          <a:p>
            <a:endParaRPr lang="es-MX" dirty="0"/>
          </a:p>
          <a:p>
            <a:r>
              <a:rPr lang="es-MX" sz="1200" b="1" dirty="0">
                <a:solidFill>
                  <a:srgbClr val="000000"/>
                </a:solidFill>
              </a:rPr>
              <a:t>3. FRACCIONES ALGEBRAICAS Y ECUACIONES CON FRACCIONES </a:t>
            </a:r>
          </a:p>
          <a:p>
            <a:endParaRPr lang="es-MX" sz="1200" b="1" dirty="0">
              <a:solidFill>
                <a:srgbClr val="000000"/>
              </a:solidFill>
            </a:endParaRPr>
          </a:p>
          <a:p>
            <a:r>
              <a:rPr lang="es-MX" dirty="0"/>
              <a:t>3.1. Factorización de polinomios </a:t>
            </a:r>
          </a:p>
          <a:p>
            <a:r>
              <a:rPr lang="es-MX" dirty="0"/>
              <a:t>3.2. Multiplicación de fracciones </a:t>
            </a:r>
          </a:p>
          <a:p>
            <a:r>
              <a:rPr lang="es-MX" dirty="0"/>
              <a:t>3.3. División de fracciones </a:t>
            </a:r>
          </a:p>
          <a:p>
            <a:r>
              <a:rPr lang="es-MX" dirty="0"/>
              <a:t>3.4. Adición y sustracción de fracciones </a:t>
            </a:r>
          </a:p>
          <a:p>
            <a:r>
              <a:rPr lang="es-MX" dirty="0"/>
              <a:t>3.5. Ecuaciones con fracciones </a:t>
            </a:r>
          </a:p>
          <a:p>
            <a:endParaRPr lang="es-MX" dirty="0"/>
          </a:p>
          <a:p>
            <a:r>
              <a:rPr lang="es-MX" sz="1200" b="1" dirty="0"/>
              <a:t>4. TRIGONOMETRÍA </a:t>
            </a:r>
          </a:p>
          <a:p>
            <a:r>
              <a:rPr lang="es-MX" sz="1200" dirty="0"/>
              <a:t>4.1. Funciones trigonométricas </a:t>
            </a:r>
          </a:p>
          <a:p>
            <a:r>
              <a:rPr lang="es-MX" sz="1200" dirty="0"/>
              <a:t>4.2. Triángulos rectángulos </a:t>
            </a:r>
          </a:p>
          <a:p>
            <a:r>
              <a:rPr lang="es-MX" sz="1200" dirty="0"/>
              <a:t>4.3. Identidades trigonométricas </a:t>
            </a:r>
          </a:p>
          <a:p>
            <a:r>
              <a:rPr lang="es-MX" sz="1200" dirty="0"/>
              <a:t>4.3.1. Fundamentales. </a:t>
            </a:r>
          </a:p>
          <a:p>
            <a:r>
              <a:rPr lang="es-MX" sz="1200" dirty="0"/>
              <a:t>4.3.2. Comprobación de identidades trigonométricas. </a:t>
            </a:r>
          </a:p>
          <a:p>
            <a:r>
              <a:rPr lang="es-MX" sz="1200" dirty="0"/>
              <a:t>4.3.3. Identidades de sumas de ángulos, ángulos dobles y ángulos mitad. </a:t>
            </a:r>
          </a:p>
          <a:p>
            <a:r>
              <a:rPr lang="es-MX" sz="1200" dirty="0"/>
              <a:t>4.4. Ecuaciones trigonométricas </a:t>
            </a:r>
          </a:p>
          <a:p>
            <a:r>
              <a:rPr lang="es-MX" sz="1200" dirty="0"/>
              <a:t>4.4.1. Tipos de ecuaciones. </a:t>
            </a:r>
          </a:p>
          <a:p>
            <a:r>
              <a:rPr lang="es-MX" sz="1200" dirty="0"/>
              <a:t>4.4.2. Métodos de solución de ecuaciones trigonométricas </a:t>
            </a:r>
          </a:p>
          <a:p>
            <a:r>
              <a:rPr lang="es-MX" sz="1200" dirty="0"/>
              <a:t>4.5. Triángulos oblicuángulos </a:t>
            </a:r>
          </a:p>
          <a:p>
            <a:endParaRPr lang="es-MX" sz="1200" dirty="0"/>
          </a:p>
          <a:p>
            <a:r>
              <a:rPr lang="es-MX" sz="1200" b="1" dirty="0"/>
              <a:t>5. GEOMETRÍA ANALÍTICA </a:t>
            </a:r>
          </a:p>
          <a:p>
            <a:r>
              <a:rPr lang="es-MX" sz="1200" dirty="0"/>
              <a:t>5.1. Teoremas básicos de la geometría </a:t>
            </a:r>
          </a:p>
          <a:p>
            <a:r>
              <a:rPr lang="es-MX" sz="1200" dirty="0"/>
              <a:t>5.2. La recta </a:t>
            </a:r>
          </a:p>
          <a:p>
            <a:r>
              <a:rPr lang="es-MX" sz="1200" dirty="0"/>
              <a:t>5.3. La parábola </a:t>
            </a:r>
          </a:p>
          <a:p>
            <a:r>
              <a:rPr lang="es-MX" sz="1200" dirty="0"/>
              <a:t>5.4. La circunferencia </a:t>
            </a:r>
          </a:p>
          <a:p>
            <a:r>
              <a:rPr lang="es-MX" sz="1200" dirty="0"/>
              <a:t>5.5. La hipérbola </a:t>
            </a:r>
          </a:p>
        </p:txBody>
      </p:sp>
    </p:spTree>
    <p:extLst>
      <p:ext uri="{BB962C8B-B14F-4D97-AF65-F5344CB8AC3E}">
        <p14:creationId xmlns:p14="http://schemas.microsoft.com/office/powerpoint/2010/main" val="12401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980C-05F9-1A53-5EA3-27524717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487300-4980-8577-3926-D3305C606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212" y="2371620"/>
            <a:ext cx="7757575" cy="276266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C7CAEC4-BE5C-33D6-ABA2-D3815C2E2A9B}"/>
              </a:ext>
            </a:extLst>
          </p:cNvPr>
          <p:cNvSpPr txBox="1"/>
          <p:nvPr/>
        </p:nvSpPr>
        <p:spPr>
          <a:xfrm>
            <a:off x="2826026" y="546854"/>
            <a:ext cx="60946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3"/>
              </a:rPr>
              <a:t>Crear una cuenta de Google </a:t>
            </a:r>
          </a:p>
          <a:p>
            <a:r>
              <a:rPr lang="es-MX" dirty="0">
                <a:hlinkClick r:id="rId3"/>
              </a:rPr>
              <a:t>https://colab.research.google.com/</a:t>
            </a:r>
            <a:endParaRPr lang="es-MX" dirty="0"/>
          </a:p>
          <a:p>
            <a:r>
              <a:rPr lang="es-MX" dirty="0">
                <a:hlinkClick r:id="rId4"/>
              </a:rPr>
              <a:t>https://github.com/</a:t>
            </a:r>
            <a:endParaRPr lang="es-MX" dirty="0"/>
          </a:p>
          <a:p>
            <a:r>
              <a:rPr lang="es-MX" dirty="0">
                <a:hlinkClick r:id="rId5"/>
              </a:rPr>
              <a:t>https://github.com/caballeroarturo/CAN_Matematicas</a:t>
            </a:r>
            <a:endParaRPr lang="es-MX" dirty="0"/>
          </a:p>
          <a:p>
            <a:endParaRPr lang="es-MX" dirty="0"/>
          </a:p>
          <a:p>
            <a:pPr algn="ctr"/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3650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DC90F-2480-805E-03E2-3574C35DB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25A10B9-4C54-B4A8-D88D-15734E6EC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168" y="4304654"/>
            <a:ext cx="6601746" cy="104789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66B8E4E-4DDB-179F-109A-C5983EC3BAE2}"/>
              </a:ext>
            </a:extLst>
          </p:cNvPr>
          <p:cNvSpPr txBox="1"/>
          <p:nvPr/>
        </p:nvSpPr>
        <p:spPr>
          <a:xfrm>
            <a:off x="4310163" y="1124793"/>
            <a:ext cx="3747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/>
              <a:t>Números naturales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C72FD-A3A4-A4B5-1527-D8F0CC29D274}"/>
              </a:ext>
            </a:extLst>
          </p:cNvPr>
          <p:cNvSpPr txBox="1"/>
          <p:nvPr/>
        </p:nvSpPr>
        <p:spPr>
          <a:xfrm>
            <a:off x="4094319" y="2258170"/>
            <a:ext cx="44005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5400" dirty="0"/>
              <a:t>{1,2,3,4,5,6, …}</a:t>
            </a:r>
          </a:p>
        </p:txBody>
      </p:sp>
    </p:spTree>
    <p:extLst>
      <p:ext uri="{BB962C8B-B14F-4D97-AF65-F5344CB8AC3E}">
        <p14:creationId xmlns:p14="http://schemas.microsoft.com/office/powerpoint/2010/main" val="24728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332A-A1B9-E407-2E3B-6F35050EE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DEAFE9D-4AE8-77A6-8FFA-98D38BFF0CB2}"/>
              </a:ext>
            </a:extLst>
          </p:cNvPr>
          <p:cNvSpPr txBox="1"/>
          <p:nvPr/>
        </p:nvSpPr>
        <p:spPr>
          <a:xfrm>
            <a:off x="4310163" y="1124793"/>
            <a:ext cx="3427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/>
              <a:t>Números enteros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A23F33-D032-5798-3F65-4820FD713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81" y="2194560"/>
            <a:ext cx="10345038" cy="210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9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42AD-8969-F7F2-5B42-DD09945AE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A999A0B-D3F9-24A6-14BC-DFB8F714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15" y="938419"/>
            <a:ext cx="5719932" cy="41809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34C1DD0-C828-0DB6-D6D7-70128FD02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245" y="1648949"/>
            <a:ext cx="5014006" cy="356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90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7CC0F-ED64-ED17-8489-B60882BD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DDC5AC6-C90D-9A63-FC5C-65F84B3E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679" y="556756"/>
            <a:ext cx="7349889" cy="537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4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FB4F-A6F9-B1AD-1826-E1BDFD16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D779B59B-BC45-A4C5-E6AC-54A8BA8197C2}"/>
              </a:ext>
            </a:extLst>
          </p:cNvPr>
          <p:cNvSpPr/>
          <p:nvPr/>
        </p:nvSpPr>
        <p:spPr>
          <a:xfrm>
            <a:off x="540689" y="834887"/>
            <a:ext cx="1574358" cy="15027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3F6D66-1196-5928-DE4E-12E98D5FE1CF}"/>
              </a:ext>
            </a:extLst>
          </p:cNvPr>
          <p:cNvSpPr txBox="1"/>
          <p:nvPr/>
        </p:nvSpPr>
        <p:spPr>
          <a:xfrm>
            <a:off x="4358716" y="469338"/>
            <a:ext cx="3125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dirty="0"/>
              <a:t>Números reales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917674-0A01-1F26-8CD5-906B35DE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62" y="1285602"/>
            <a:ext cx="6900759" cy="5292483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D870305-C58A-0C9B-9B97-60DB0685CB73}"/>
              </a:ext>
            </a:extLst>
          </p:cNvPr>
          <p:cNvCxnSpPr>
            <a:cxnSpLocks/>
            <a:stCxn id="2" idx="2"/>
            <a:endCxn id="2" idx="6"/>
          </p:cNvCxnSpPr>
          <p:nvPr/>
        </p:nvCxnSpPr>
        <p:spPr>
          <a:xfrm>
            <a:off x="540689" y="1586285"/>
            <a:ext cx="15743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00B8FAD-C68E-4E90-00F3-2EBDB6F83421}"/>
              </a:ext>
            </a:extLst>
          </p:cNvPr>
          <p:cNvCxnSpPr>
            <a:cxnSpLocks/>
            <a:stCxn id="2" idx="2"/>
            <a:endCxn id="2" idx="6"/>
          </p:cNvCxnSpPr>
          <p:nvPr/>
        </p:nvCxnSpPr>
        <p:spPr>
          <a:xfrm>
            <a:off x="540689" y="1586285"/>
            <a:ext cx="157435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719386D-E83A-8FB6-97ED-1FFE82621B4F}"/>
              </a:ext>
            </a:extLst>
          </p:cNvPr>
          <p:cNvSpPr/>
          <p:nvPr/>
        </p:nvSpPr>
        <p:spPr>
          <a:xfrm>
            <a:off x="262393" y="2949934"/>
            <a:ext cx="1685677" cy="1343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7A67E0B-360E-2CB2-F1AD-D3B7C95BC7DD}"/>
              </a:ext>
            </a:extLst>
          </p:cNvPr>
          <p:cNvCxnSpPr>
            <a:cxnSpLocks/>
          </p:cNvCxnSpPr>
          <p:nvPr/>
        </p:nvCxnSpPr>
        <p:spPr>
          <a:xfrm>
            <a:off x="262393" y="2949934"/>
            <a:ext cx="1685677" cy="134375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163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291</Words>
  <Application>Microsoft Office PowerPoint</Application>
  <PresentationFormat>Panorámica</PresentationFormat>
  <Paragraphs>66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Caballero Arturo</dc:creator>
  <cp:lastModifiedBy>Caballero Arturo</cp:lastModifiedBy>
  <cp:revision>3</cp:revision>
  <dcterms:created xsi:type="dcterms:W3CDTF">2026-05-26T22:25:03Z</dcterms:created>
  <dcterms:modified xsi:type="dcterms:W3CDTF">2026-05-29T19:14:18Z</dcterms:modified>
</cp:coreProperties>
</file>