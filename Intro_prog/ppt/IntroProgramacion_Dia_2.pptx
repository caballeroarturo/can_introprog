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13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BC4E9-EADF-E261-6531-5861E9F5A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5F7251-5CE8-3D5F-66F6-661950082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A5D830-E12C-FCF0-5E13-96E79F85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1F6D8F-C714-1CE7-CEA7-1CD4A18E8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778F7A-8261-F3E2-E87A-E0C6710A3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436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AB416-FFE9-1C49-382E-38E98F33B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4BC3C9-B2BA-CADE-B2F3-6FB92E8E9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C9B8EB-FFF6-4D6E-6585-911DF3AB0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7B37CA-1851-9830-F385-4A6F74B7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BA39CB-7D63-F03C-10CC-92DC0D8A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416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19959-C3AB-0FC2-0D1D-9D6C4231A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CE47F-007A-551A-FBBC-F4BEF5681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C6D1B5-40AD-3E94-6F42-A77E63842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F638AC-EFCD-B4C7-7A78-F6CC7F25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2A238-262A-5143-E2BB-02FCE035D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080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9E931-BA12-D67F-9CBC-5CC3DC2B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0E4934-372E-5B2A-10EB-60DEF83FE1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3632EA-337E-2F75-A3E5-28812CF5D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5203DF-8DB0-1406-44EC-82D855967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DB3740-84AB-AE4B-1FA1-AE7CE4506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A636D9-D8C0-A1C2-6B6E-8E5CD0598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8099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5D19E-394C-9DC0-DA04-09E070E9D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7302EE-5DFE-6F9C-A2DA-BC44B3221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94B0D3-72E8-ECFF-05EC-C35677CB4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45A1CEC-3721-E296-31AC-79751F3BC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FADD46-3D25-255E-68A6-5485CD0A0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82A6AEB-07D4-CBBE-B417-4929D8EF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8A80FC2-A39A-2147-691A-9E73526EA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E72CAD-8D17-F142-6A4D-9B7D4070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2534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34800-105D-A790-6501-1A40EAA6E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34F1EE8-0445-308C-D4D6-40836933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A020EE-CF71-3E79-EEA2-CDC2F398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CF95505-2572-68E5-D45E-448006FA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2949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4D47483-B6E6-44B2-E1F8-82F2C785F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F327BE-60FE-45B7-1C14-2463022C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477AF9-0A65-D4AC-94AE-C2C594A8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473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F52220-8C2B-48EE-351F-864AB3AC3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8ADE15-3445-4E5E-3E40-84316FFB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22C9A8-91D9-198A-51B8-E88E034CA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3ACD6F-5487-6805-4E38-8444B7D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7A2ED9-7ADB-9D99-2547-2F093CB4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82F5C8-9386-D3F9-EA51-E41B6F2CE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33300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D53912-9EA4-8EB0-54DE-A26AA19A4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9044C8F-79C8-C865-C4DB-54718F15E2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57658E1-4786-6435-17FF-231017CD0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77FCA3-44A6-703D-F0AE-20C16999A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EE280D-D0F3-2426-4BCA-DBE68599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D73FA0-9933-8DDD-5C3E-3C30FBF1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33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808E7-117E-925F-BAE5-837CDA8F0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7906B0-AA45-D7CD-10E8-6FF408F36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47FD88-94FD-B409-2462-D296F2C44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6FAFA5-65FB-26A4-E6F2-36C2068DC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07D39A-0522-E71F-11C6-7151FA5CD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250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0299C4D-B8A2-3613-6709-11B8F9DE8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EAC993-0639-D2D3-B7CB-92DCF07D3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7432A2-3212-5E09-DD78-872E85B3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84B9D-02F8-4386-8A4D-0117422AB337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C115D9-C470-4C64-DF97-EE401006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37A466-47ED-4E50-19D7-50C059DB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550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97C13BF-93FA-1F3D-726C-DD4329FB7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DA29EC-E467-3867-3748-00F2BC32E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399CA6-7BFD-D82B-961A-50BB12066A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84B9D-02F8-4386-8A4D-0117422AB337}" type="datetimeFigureOut">
              <a:rPr lang="es-MX" smtClean="0"/>
              <a:t>02/06/2026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65C0D1-8283-570E-FC43-051230C15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8C6365-036D-0E59-47AD-47618B525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5A049A-B8C5-4C20-B9E7-D8E07B1423A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0280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EEB11CE-3FE7-6B09-9CB3-8F69C129E3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161" b="64948"/>
          <a:stretch>
            <a:fillRect/>
          </a:stretch>
        </p:blipFill>
        <p:spPr>
          <a:xfrm>
            <a:off x="2477132" y="502716"/>
            <a:ext cx="6635023" cy="380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102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24418-7B8C-3ED7-4E0B-6B6B6DC7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44E9B70-D322-6D3C-CEF5-8359469D69B4}"/>
              </a:ext>
            </a:extLst>
          </p:cNvPr>
          <p:cNvSpPr txBox="1"/>
          <p:nvPr/>
        </p:nvSpPr>
        <p:spPr>
          <a:xfrm>
            <a:off x="1431721" y="176060"/>
            <a:ext cx="93285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algn="ctr">
              <a:defRPr sz="36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 dirty="0"/>
              <a:t>¿Cómo le explicarían a una persona que debe comprar café?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AFD35C0-E01A-57CE-A4B9-7C203A361DB3}"/>
              </a:ext>
            </a:extLst>
          </p:cNvPr>
          <p:cNvSpPr/>
          <p:nvPr/>
        </p:nvSpPr>
        <p:spPr>
          <a:xfrm>
            <a:off x="968188" y="1640539"/>
            <a:ext cx="6526305" cy="45988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/>
              <a:t>¿Qué?</a:t>
            </a:r>
          </a:p>
          <a:p>
            <a:pPr marL="285750" indent="-285750">
              <a:buFontTx/>
              <a:buChar char="-"/>
            </a:pPr>
            <a:r>
              <a:rPr lang="es-MX" dirty="0"/>
              <a:t>Marca, tipo, presentación</a:t>
            </a:r>
          </a:p>
          <a:p>
            <a:endParaRPr lang="es-MX" dirty="0"/>
          </a:p>
          <a:p>
            <a:r>
              <a:rPr lang="es-MX" dirty="0"/>
              <a:t>¿Dónde?</a:t>
            </a:r>
          </a:p>
          <a:p>
            <a:r>
              <a:rPr lang="es-MX" dirty="0"/>
              <a:t>- Tienda, mercado, supermercado, </a:t>
            </a:r>
            <a:r>
              <a:rPr lang="es-MX" dirty="0" err="1"/>
              <a:t>didi</a:t>
            </a:r>
            <a:r>
              <a:rPr lang="es-MX" dirty="0"/>
              <a:t>, </a:t>
            </a:r>
            <a:r>
              <a:rPr lang="es-MX" dirty="0" err="1"/>
              <a:t>uber</a:t>
            </a:r>
            <a:r>
              <a:rPr lang="es-MX" dirty="0"/>
              <a:t>, </a:t>
            </a:r>
            <a:r>
              <a:rPr lang="es-MX" dirty="0" err="1"/>
              <a:t>rappi</a:t>
            </a:r>
            <a:r>
              <a:rPr lang="es-MX" dirty="0"/>
              <a:t>, </a:t>
            </a:r>
            <a:r>
              <a:rPr lang="es-MX" dirty="0" err="1"/>
              <a:t>oxxo</a:t>
            </a:r>
            <a:endParaRPr lang="es-MX" dirty="0"/>
          </a:p>
          <a:p>
            <a:endParaRPr lang="es-MX" dirty="0"/>
          </a:p>
          <a:p>
            <a:r>
              <a:rPr lang="es-MX" dirty="0"/>
              <a:t>¿Quién?</a:t>
            </a:r>
          </a:p>
          <a:p>
            <a:endParaRPr lang="es-MX" dirty="0"/>
          </a:p>
          <a:p>
            <a:r>
              <a:rPr lang="es-MX" dirty="0"/>
              <a:t>¿Cuándo?</a:t>
            </a:r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¿Cómo?</a:t>
            </a:r>
          </a:p>
          <a:p>
            <a:endParaRPr lang="es-MX" dirty="0"/>
          </a:p>
          <a:p>
            <a:r>
              <a:rPr lang="es-MX" dirty="0"/>
              <a:t>¿Costo?</a:t>
            </a:r>
          </a:p>
          <a:p>
            <a:endParaRPr lang="es-MX" dirty="0"/>
          </a:p>
          <a:p>
            <a:r>
              <a:rPr lang="es-MX" sz="2800" b="1" dirty="0">
                <a:solidFill>
                  <a:srgbClr val="FFFF00"/>
                </a:solidFill>
              </a:rPr>
              <a:t>¿Para quién?</a:t>
            </a:r>
          </a:p>
        </p:txBody>
      </p:sp>
    </p:spTree>
    <p:extLst>
      <p:ext uri="{BB962C8B-B14F-4D97-AF65-F5344CB8AC3E}">
        <p14:creationId xmlns:p14="http://schemas.microsoft.com/office/powerpoint/2010/main" val="1957225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9A1D4-8673-5BE8-D3BA-8B0E1E15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5EE3EF4-510D-C587-E8B4-99A419A56EE8}"/>
              </a:ext>
            </a:extLst>
          </p:cNvPr>
          <p:cNvSpPr txBox="1"/>
          <p:nvPr/>
        </p:nvSpPr>
        <p:spPr>
          <a:xfrm>
            <a:off x="1431721" y="176060"/>
            <a:ext cx="93285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algn="ctr">
              <a:defRPr sz="36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 dirty="0"/>
              <a:t>¿Cómo le explicarían a una persona cómo preparar un café instantáneo con olla?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A445542-0FFE-41FE-396C-DC0ACB1EECF9}"/>
              </a:ext>
            </a:extLst>
          </p:cNvPr>
          <p:cNvSpPr txBox="1"/>
          <p:nvPr/>
        </p:nvSpPr>
        <p:spPr>
          <a:xfrm>
            <a:off x="2257908" y="1618571"/>
            <a:ext cx="21417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algn="ctr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s-MX" dirty="0"/>
              <a:t>Colocar agua en la olla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24FF720-EBE1-EEEB-F49C-E218CE8B3727}"/>
              </a:ext>
            </a:extLst>
          </p:cNvPr>
          <p:cNvSpPr txBox="1"/>
          <p:nvPr/>
        </p:nvSpPr>
        <p:spPr>
          <a:xfrm>
            <a:off x="8355106" y="4701271"/>
            <a:ext cx="16605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algn="ctr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s-MX" dirty="0"/>
              <a:t>Revolver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688472-AA86-28B9-D025-EF83BEBA0059}"/>
              </a:ext>
            </a:extLst>
          </p:cNvPr>
          <p:cNvSpPr txBox="1"/>
          <p:nvPr/>
        </p:nvSpPr>
        <p:spPr>
          <a:xfrm>
            <a:off x="15297" y="2967334"/>
            <a:ext cx="16605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algn="ctr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s-MX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olla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057A75-12AA-0CCA-1DD2-96A9C70E0311}"/>
              </a:ext>
            </a:extLst>
          </p:cNvPr>
          <p:cNvSpPr txBox="1"/>
          <p:nvPr/>
        </p:nvSpPr>
        <p:spPr>
          <a:xfrm>
            <a:off x="135294" y="1748585"/>
            <a:ext cx="16605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algn="ctr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s-MX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café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349F175-BF04-16A5-1FC6-BA3D590DAF06}"/>
              </a:ext>
            </a:extLst>
          </p:cNvPr>
          <p:cNvSpPr txBox="1"/>
          <p:nvPr/>
        </p:nvSpPr>
        <p:spPr>
          <a:xfrm>
            <a:off x="-152596" y="2624111"/>
            <a:ext cx="16605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algn="ctr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s-MX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cuchara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D3D0CEA-FEBD-588A-95CD-2EEDEA99217A}"/>
              </a:ext>
            </a:extLst>
          </p:cNvPr>
          <p:cNvSpPr txBox="1"/>
          <p:nvPr/>
        </p:nvSpPr>
        <p:spPr>
          <a:xfrm>
            <a:off x="135293" y="2070932"/>
            <a:ext cx="16605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algn="ctr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s-MX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azúcar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DFA0394-ED46-2C77-F3EC-73502B4DFE43}"/>
              </a:ext>
            </a:extLst>
          </p:cNvPr>
          <p:cNvSpPr txBox="1"/>
          <p:nvPr/>
        </p:nvSpPr>
        <p:spPr>
          <a:xfrm>
            <a:off x="135294" y="1508645"/>
            <a:ext cx="16605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algn="ctr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s-MX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agua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ECFEBF7-39C1-E89D-4011-5DCBDE9C6394}"/>
              </a:ext>
            </a:extLst>
          </p:cNvPr>
          <p:cNvSpPr txBox="1"/>
          <p:nvPr/>
        </p:nvSpPr>
        <p:spPr>
          <a:xfrm>
            <a:off x="0" y="3269814"/>
            <a:ext cx="16605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algn="ctr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s-MX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taza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7D96491-2E08-FE51-8DE1-2AB1AD34BBAE}"/>
              </a:ext>
            </a:extLst>
          </p:cNvPr>
          <p:cNvSpPr txBox="1"/>
          <p:nvPr/>
        </p:nvSpPr>
        <p:spPr>
          <a:xfrm>
            <a:off x="2301949" y="3013500"/>
            <a:ext cx="21417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algn="ctr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s-MX" dirty="0"/>
              <a:t>Encender la estufa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FE3D3E0-278D-5787-B859-F4114CD39669}"/>
              </a:ext>
            </a:extLst>
          </p:cNvPr>
          <p:cNvSpPr txBox="1"/>
          <p:nvPr/>
        </p:nvSpPr>
        <p:spPr>
          <a:xfrm>
            <a:off x="2323827" y="4147356"/>
            <a:ext cx="21417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algn="ctr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s-MX" dirty="0"/>
              <a:t>Colocar la olla en la estufa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23D6501-E04B-329E-0877-2B6F017C83CC}"/>
              </a:ext>
            </a:extLst>
          </p:cNvPr>
          <p:cNvSpPr txBox="1"/>
          <p:nvPr/>
        </p:nvSpPr>
        <p:spPr>
          <a:xfrm>
            <a:off x="2389747" y="5327378"/>
            <a:ext cx="21417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algn="ctr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s-MX" dirty="0"/>
              <a:t>Cuando hierva el agua apagarla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B947E08-62B0-E519-9D7A-7C3503E264F8}"/>
              </a:ext>
            </a:extLst>
          </p:cNvPr>
          <p:cNvSpPr txBox="1"/>
          <p:nvPr/>
        </p:nvSpPr>
        <p:spPr>
          <a:xfrm>
            <a:off x="5875756" y="1848888"/>
            <a:ext cx="21417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algn="ctr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s-MX" dirty="0"/>
              <a:t>Vaciar agua en la taza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BB116C1-8975-08A5-4AC8-46E943D35A95}"/>
              </a:ext>
            </a:extLst>
          </p:cNvPr>
          <p:cNvSpPr txBox="1"/>
          <p:nvPr/>
        </p:nvSpPr>
        <p:spPr>
          <a:xfrm>
            <a:off x="6858826" y="3175970"/>
            <a:ext cx="21417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algn="ctr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s-MX" dirty="0"/>
              <a:t>Colocar café y azúcar al gusto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685464E-DFC2-5F23-C49F-573AC40E9958}"/>
              </a:ext>
            </a:extLst>
          </p:cNvPr>
          <p:cNvSpPr txBox="1"/>
          <p:nvPr/>
        </p:nvSpPr>
        <p:spPr>
          <a:xfrm>
            <a:off x="10015625" y="5783089"/>
            <a:ext cx="16605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MX"/>
            </a:defPPr>
            <a:lvl1pPr algn="ctr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s-MX" dirty="0"/>
              <a:t>Servir</a:t>
            </a:r>
          </a:p>
        </p:txBody>
      </p: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8F7F0A36-C1E2-F095-D58A-E4137601E06D}"/>
              </a:ext>
            </a:extLst>
          </p:cNvPr>
          <p:cNvCxnSpPr>
            <a:cxnSpLocks/>
            <a:stCxn id="4" idx="2"/>
            <a:endCxn id="11" idx="1"/>
          </p:cNvCxnSpPr>
          <p:nvPr/>
        </p:nvCxnSpPr>
        <p:spPr>
          <a:xfrm rot="5400000">
            <a:off x="2325649" y="2425869"/>
            <a:ext cx="979431" cy="1026829"/>
          </a:xfrm>
          <a:prstGeom prst="bentConnector4">
            <a:avLst>
              <a:gd name="adj1" fmla="val 28789"/>
              <a:gd name="adj2" fmla="val 12226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902EC605-7C5D-1EB6-0223-D08D21F2EBE0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16200000" flipH="1">
            <a:off x="3232329" y="3984987"/>
            <a:ext cx="302859" cy="218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307DCAE4-E21A-3509-13FB-62E362C16724}"/>
              </a:ext>
            </a:extLst>
          </p:cNvPr>
          <p:cNvCxnSpPr>
            <a:cxnSpLocks/>
            <a:stCxn id="12" idx="1"/>
            <a:endCxn id="13" idx="1"/>
          </p:cNvCxnSpPr>
          <p:nvPr/>
        </p:nvCxnSpPr>
        <p:spPr>
          <a:xfrm rot="10800000" flipH="1" flipV="1">
            <a:off x="2323827" y="4562855"/>
            <a:ext cx="65920" cy="1364688"/>
          </a:xfrm>
          <a:prstGeom prst="bentConnector3">
            <a:avLst>
              <a:gd name="adj1" fmla="val -34678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315BCD3A-A6C9-AE9A-DB08-C693E5D66001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4531486" y="2264387"/>
            <a:ext cx="1344270" cy="36631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angular 34">
            <a:extLst>
              <a:ext uri="{FF2B5EF4-FFF2-40B4-BE49-F238E27FC236}">
                <a16:creationId xmlns:a16="http://schemas.microsoft.com/office/drawing/2014/main" id="{BE8C7E34-B02A-5B39-1DA9-5ECE11BC8E5B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16200000" flipH="1">
            <a:off x="7190119" y="2436392"/>
            <a:ext cx="496085" cy="9830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A705DB9B-55EC-5582-225F-1727D95B6CE4}"/>
              </a:ext>
            </a:extLst>
          </p:cNvPr>
          <p:cNvCxnSpPr>
            <a:cxnSpLocks/>
            <a:stCxn id="15" idx="2"/>
            <a:endCxn id="2" idx="0"/>
          </p:cNvCxnSpPr>
          <p:nvPr/>
        </p:nvCxnSpPr>
        <p:spPr>
          <a:xfrm rot="16200000" flipH="1">
            <a:off x="8210379" y="3726284"/>
            <a:ext cx="694304" cy="12556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angular 40">
            <a:extLst>
              <a:ext uri="{FF2B5EF4-FFF2-40B4-BE49-F238E27FC236}">
                <a16:creationId xmlns:a16="http://schemas.microsoft.com/office/drawing/2014/main" id="{8252FC3E-7A30-080E-788C-9D07FE4F1986}"/>
              </a:ext>
            </a:extLst>
          </p:cNvPr>
          <p:cNvCxnSpPr>
            <a:cxnSpLocks/>
            <a:stCxn id="2" idx="2"/>
            <a:endCxn id="16" idx="0"/>
          </p:cNvCxnSpPr>
          <p:nvPr/>
        </p:nvCxnSpPr>
        <p:spPr>
          <a:xfrm rot="16200000" flipH="1">
            <a:off x="9705549" y="4642752"/>
            <a:ext cx="620153" cy="16605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226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968DF-C8CD-F5BE-5992-85F17A808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31CDCF9-4E32-FDB0-02DF-57B2CF900470}"/>
              </a:ext>
            </a:extLst>
          </p:cNvPr>
          <p:cNvSpPr txBox="1"/>
          <p:nvPr/>
        </p:nvSpPr>
        <p:spPr>
          <a:xfrm>
            <a:off x="1147482" y="231987"/>
            <a:ext cx="10112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¿Cómo calcular el promedio de tres calificaciones?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F310846-6401-3193-8451-9078EAC9689D}"/>
              </a:ext>
            </a:extLst>
          </p:cNvPr>
          <p:cNvSpPr txBox="1"/>
          <p:nvPr/>
        </p:nvSpPr>
        <p:spPr>
          <a:xfrm>
            <a:off x="502022" y="2278131"/>
            <a:ext cx="21515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accent2"/>
                </a:solidFill>
              </a:rPr>
              <a:t>Leer calificación 1</a:t>
            </a:r>
          </a:p>
          <a:p>
            <a:pPr algn="ctr"/>
            <a:r>
              <a:rPr lang="es-MX" b="1" dirty="0">
                <a:solidFill>
                  <a:schemeClr val="accent2"/>
                </a:solidFill>
              </a:rPr>
              <a:t>Leer calificación 2</a:t>
            </a:r>
          </a:p>
          <a:p>
            <a:pPr algn="ctr"/>
            <a:r>
              <a:rPr lang="es-MX" b="1" dirty="0">
                <a:solidFill>
                  <a:schemeClr val="accent2"/>
                </a:solidFill>
              </a:rPr>
              <a:t>Leer calificación 3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CAEF9E6-36E3-B9C0-05E5-A8B7340D0F37}"/>
              </a:ext>
            </a:extLst>
          </p:cNvPr>
          <p:cNvSpPr txBox="1"/>
          <p:nvPr/>
        </p:nvSpPr>
        <p:spPr>
          <a:xfrm>
            <a:off x="9529482" y="5092423"/>
            <a:ext cx="24652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accent2"/>
                </a:solidFill>
              </a:rPr>
              <a:t>Dar resultado</a:t>
            </a:r>
          </a:p>
          <a:p>
            <a:pPr marL="342900" indent="-342900" algn="ctr">
              <a:buFontTx/>
              <a:buChar char="-"/>
            </a:pPr>
            <a:r>
              <a:rPr lang="es-MX" sz="2400" b="1" dirty="0">
                <a:solidFill>
                  <a:schemeClr val="accent2"/>
                </a:solidFill>
              </a:rPr>
              <a:t>Promedio</a:t>
            </a:r>
          </a:p>
          <a:p>
            <a:pPr marL="342900" indent="-342900" algn="ctr">
              <a:buFontTx/>
              <a:buChar char="-"/>
            </a:pPr>
            <a:r>
              <a:rPr lang="es-MX" sz="2400" b="1" dirty="0">
                <a:solidFill>
                  <a:schemeClr val="accent2"/>
                </a:solidFill>
              </a:rPr>
              <a:t>Si aprobó o no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EA1856F-C6DD-2C59-5D7D-3A729399292B}"/>
              </a:ext>
            </a:extLst>
          </p:cNvPr>
          <p:cNvSpPr txBox="1"/>
          <p:nvPr/>
        </p:nvSpPr>
        <p:spPr>
          <a:xfrm>
            <a:off x="986118" y="1165412"/>
            <a:ext cx="66159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Son notas de 3 exámenes de matemáticas, aprueban con promedio 7, lápiz y papel, un solo estudiante, 2 puntos decimales. Solo dar el resultado sin decir que pasará después.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DA1975A-9067-99A9-9D7C-7AFB6C7E9D48}"/>
                  </a:ext>
                </a:extLst>
              </p:cNvPr>
              <p:cNvSpPr txBox="1"/>
              <p:nvPr/>
            </p:nvSpPr>
            <p:spPr>
              <a:xfrm>
                <a:off x="8770551" y="1165412"/>
                <a:ext cx="2664447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b="0" i="1" smtClean="0">
                          <a:latin typeface="Cambria Math" panose="02040503050406030204" pitchFamily="18" charset="0"/>
                        </a:rPr>
                        <m:t>𝑝𝑟𝑜𝑚𝑒𝑑𝑖𝑜</m:t>
                      </m:r>
                      <m:r>
                        <a:rPr lang="es-MX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MX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2+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s-MX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6DA1975A-9067-99A9-9D7C-7AFB6C7E9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0551" y="1165412"/>
                <a:ext cx="2664447" cy="5203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>
            <a:extLst>
              <a:ext uri="{FF2B5EF4-FFF2-40B4-BE49-F238E27FC236}">
                <a16:creationId xmlns:a16="http://schemas.microsoft.com/office/drawing/2014/main" id="{9F3A96D8-A03C-C43C-E09E-2FBCCB4DB350}"/>
              </a:ext>
            </a:extLst>
          </p:cNvPr>
          <p:cNvSpPr txBox="1"/>
          <p:nvPr/>
        </p:nvSpPr>
        <p:spPr>
          <a:xfrm>
            <a:off x="3433482" y="3105834"/>
            <a:ext cx="21515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accent2"/>
                </a:solidFill>
              </a:rPr>
              <a:t>Usar la fórmula del promedio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D16EEBD-3951-C34B-7EC0-739809501ABC}"/>
              </a:ext>
            </a:extLst>
          </p:cNvPr>
          <p:cNvSpPr txBox="1"/>
          <p:nvPr/>
        </p:nvSpPr>
        <p:spPr>
          <a:xfrm>
            <a:off x="6526306" y="3868706"/>
            <a:ext cx="21515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accent2"/>
                </a:solidFill>
              </a:rPr>
              <a:t>Aprobó &gt; 7 y reprobó en otro caso</a:t>
            </a:r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85570E9D-63F9-D453-C588-389A2505DEA8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2653551" y="2739796"/>
            <a:ext cx="779931" cy="6892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EEBC1876-2FA9-89B8-1093-23DCC8DE2115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5585011" y="3429000"/>
            <a:ext cx="1021980" cy="90137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A85CB355-2ACB-CE4C-FDB9-536D434DF25A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8677835" y="4330371"/>
            <a:ext cx="851647" cy="13622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231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9C16-6261-3C3A-441C-4B2B6768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4A3D961-6184-D0A7-6FF8-3A84459ED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377" y="186391"/>
            <a:ext cx="8579609" cy="6286125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024C83FA-40DF-899D-F3CF-F756079190C0}"/>
              </a:ext>
            </a:extLst>
          </p:cNvPr>
          <p:cNvSpPr/>
          <p:nvPr/>
        </p:nvSpPr>
        <p:spPr>
          <a:xfrm>
            <a:off x="5154706" y="2277036"/>
            <a:ext cx="2151529" cy="20977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70C0"/>
                </a:solidFill>
              </a:rPr>
              <a:t>Ciclo de vida de un programa</a:t>
            </a:r>
          </a:p>
        </p:txBody>
      </p:sp>
    </p:spTree>
    <p:extLst>
      <p:ext uri="{BB962C8B-B14F-4D97-AF65-F5344CB8AC3E}">
        <p14:creationId xmlns:p14="http://schemas.microsoft.com/office/powerpoint/2010/main" val="3335712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D98C6-A0B6-EE33-E2C8-99FD33BF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420BD82-3177-8E84-C18C-25175C942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377" y="186391"/>
            <a:ext cx="8579609" cy="6286125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94B3CB70-4FC2-04CD-327D-2BD6B37A02A7}"/>
              </a:ext>
            </a:extLst>
          </p:cNvPr>
          <p:cNvSpPr/>
          <p:nvPr/>
        </p:nvSpPr>
        <p:spPr>
          <a:xfrm>
            <a:off x="5154706" y="2277036"/>
            <a:ext cx="2151529" cy="20977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70C0"/>
                </a:solidFill>
              </a:rPr>
              <a:t>Ciclo de vida de un programa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1B985FF-8D0B-C16F-3CC4-48EB77C4BBCC}"/>
              </a:ext>
            </a:extLst>
          </p:cNvPr>
          <p:cNvSpPr txBox="1"/>
          <p:nvPr/>
        </p:nvSpPr>
        <p:spPr>
          <a:xfrm>
            <a:off x="9440221" y="823864"/>
            <a:ext cx="21515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chemeClr val="bg1">
                    <a:lumMod val="50000"/>
                  </a:schemeClr>
                </a:solidFill>
                <a:latin typeface="archia"/>
              </a:rPr>
              <a:t>S</a:t>
            </a:r>
            <a:r>
              <a:rPr lang="es-MX" sz="1600" b="0" i="0" dirty="0">
                <a:solidFill>
                  <a:schemeClr val="bg1">
                    <a:lumMod val="50000"/>
                  </a:schemeClr>
                </a:solidFill>
                <a:effectLst/>
                <a:latin typeface="archia"/>
              </a:rPr>
              <a:t>e define el alcance y los objetivos del proyecto de software</a:t>
            </a:r>
            <a:endParaRPr lang="es-MX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3C44A1B-D4EB-BB4F-D8AD-6BE4C091949F}"/>
              </a:ext>
            </a:extLst>
          </p:cNvPr>
          <p:cNvSpPr txBox="1"/>
          <p:nvPr/>
        </p:nvSpPr>
        <p:spPr>
          <a:xfrm>
            <a:off x="9440221" y="2910407"/>
            <a:ext cx="24649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chemeClr val="bg1">
                    <a:lumMod val="50000"/>
                  </a:schemeClr>
                </a:solidFill>
                <a:latin typeface="archia"/>
              </a:rPr>
              <a:t>se definen y documentan los requisitos funcionales y no funcionales del software</a:t>
            </a:r>
            <a:endParaRPr lang="es-MX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E812F5E-99E0-FD27-051A-692F6F051C0B}"/>
              </a:ext>
            </a:extLst>
          </p:cNvPr>
          <p:cNvSpPr txBox="1"/>
          <p:nvPr/>
        </p:nvSpPr>
        <p:spPr>
          <a:xfrm>
            <a:off x="9285676" y="4568351"/>
            <a:ext cx="27739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chemeClr val="bg1">
                    <a:lumMod val="50000"/>
                  </a:schemeClr>
                </a:solidFill>
                <a:latin typeface="archia"/>
              </a:rPr>
              <a:t>Se definen los componentes del sistema, las interfaces de usuario y se crea un diseño detallado</a:t>
            </a:r>
            <a:endParaRPr lang="es-MX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AB4A5A3-21F5-464C-1EAF-576C60D38ECE}"/>
              </a:ext>
            </a:extLst>
          </p:cNvPr>
          <p:cNvSpPr txBox="1"/>
          <p:nvPr/>
        </p:nvSpPr>
        <p:spPr>
          <a:xfrm>
            <a:off x="9418002" y="6086834"/>
            <a:ext cx="27739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chemeClr val="bg1">
                    <a:lumMod val="50000"/>
                  </a:schemeClr>
                </a:solidFill>
                <a:latin typeface="archia"/>
              </a:rPr>
              <a:t>se escribe el código del software </a:t>
            </a:r>
            <a:endParaRPr lang="es-MX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8FD3738-B36D-A95F-FE2C-B0F6C98889F5}"/>
              </a:ext>
            </a:extLst>
          </p:cNvPr>
          <p:cNvSpPr txBox="1"/>
          <p:nvPr/>
        </p:nvSpPr>
        <p:spPr>
          <a:xfrm>
            <a:off x="260363" y="5840612"/>
            <a:ext cx="2492188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chemeClr val="bg1">
                    <a:lumMod val="50000"/>
                  </a:schemeClr>
                </a:solidFill>
                <a:latin typeface="archia"/>
              </a:rPr>
              <a:t>manuales de usuario, guías de instalación y documentación técnica</a:t>
            </a:r>
            <a:endParaRPr lang="es-MX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860ABBD-8FCD-E3B8-DC52-B3CA81F49C0D}"/>
              </a:ext>
            </a:extLst>
          </p:cNvPr>
          <p:cNvSpPr txBox="1"/>
          <p:nvPr/>
        </p:nvSpPr>
        <p:spPr>
          <a:xfrm>
            <a:off x="132326" y="3906631"/>
            <a:ext cx="1929556" cy="13234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chemeClr val="bg1">
                    <a:lumMod val="50000"/>
                  </a:schemeClr>
                </a:solidFill>
                <a:latin typeface="archia"/>
              </a:rPr>
              <a:t> verificar que el software cumpla con los requisitos y funcione correctamente</a:t>
            </a:r>
            <a:endParaRPr lang="es-MX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AC07051-8DE8-E499-9B52-FC8DEEFEFD3A}"/>
              </a:ext>
            </a:extLst>
          </p:cNvPr>
          <p:cNvSpPr txBox="1"/>
          <p:nvPr/>
        </p:nvSpPr>
        <p:spPr>
          <a:xfrm>
            <a:off x="860613" y="2598003"/>
            <a:ext cx="1828800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chemeClr val="bg1">
                    <a:lumMod val="50000"/>
                  </a:schemeClr>
                </a:solidFill>
                <a:latin typeface="archia"/>
              </a:rPr>
              <a:t> se pone a disposición de los usuarios finales</a:t>
            </a:r>
            <a:endParaRPr lang="es-MX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985F5C0-4F3C-C1EE-1B51-247F88FEDCEA}"/>
              </a:ext>
            </a:extLst>
          </p:cNvPr>
          <p:cNvSpPr txBox="1"/>
          <p:nvPr/>
        </p:nvSpPr>
        <p:spPr>
          <a:xfrm>
            <a:off x="112253" y="186391"/>
            <a:ext cx="2151529" cy="181588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es-MX"/>
            </a:defPPr>
            <a:lvl1pPr>
              <a:defRPr sz="1600">
                <a:solidFill>
                  <a:schemeClr val="bg1">
                    <a:lumMod val="50000"/>
                  </a:schemeClr>
                </a:solidFill>
                <a:latin typeface="archia"/>
              </a:defRPr>
            </a:lvl1pPr>
          </a:lstStyle>
          <a:p>
            <a:r>
              <a:rPr lang="es-MX" dirty="0"/>
              <a:t>se realizan actividades de mantenimiento para corregir errores, realizar mejoras y garantizar su buen funcionamiento a lo largo del tiempo</a:t>
            </a:r>
          </a:p>
        </p:txBody>
      </p:sp>
    </p:spTree>
    <p:extLst>
      <p:ext uri="{BB962C8B-B14F-4D97-AF65-F5344CB8AC3E}">
        <p14:creationId xmlns:p14="http://schemas.microsoft.com/office/powerpoint/2010/main" val="6546697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292</Words>
  <Application>Microsoft Office PowerPoint</Application>
  <PresentationFormat>Panorámica</PresentationFormat>
  <Paragraphs>53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archia</vt:lpstr>
      <vt:lpstr>Arial</vt:lpstr>
      <vt:lpstr>Cambria Math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Caballero Arturo</dc:creator>
  <cp:lastModifiedBy>Caballero Arturo</cp:lastModifiedBy>
  <cp:revision>5</cp:revision>
  <dcterms:created xsi:type="dcterms:W3CDTF">2026-05-26T22:50:44Z</dcterms:created>
  <dcterms:modified xsi:type="dcterms:W3CDTF">2026-06-03T01:46:40Z</dcterms:modified>
</cp:coreProperties>
</file>